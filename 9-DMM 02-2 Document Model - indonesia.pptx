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PEMODELAN DAN MANAJEMEN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UNIT 2-2: MODEL DOKUMEN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Chutiporn Anutariya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Model Dokumen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TINJAUAN ULANG (RECAP)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Model Dokumen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Model dokumen adalah penyimpanan key-value khusus. Namun, alih-alih menyimpan “nilai”, sistem menyimpan “dokumen” yang tidak terikat pada pembatasan skema.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Menyediakan cara untuk melakukan query terhadap dokumen berdasarkan isi atau metadata.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Ilustrasi: Key → Document, misalnya AIT → JSON dan China → XML.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Model Dokumen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Penyimpanan Key-Value khusus.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Dirancang untuk menyimpan, mengambil, dan mengelola informasi berorientasi dokumen, yang juga dikenal sebagai data semi-terstruktur, seperti XML, JSON, dan BSON.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Menyediakan API atau bahasa query/update yang memungkinkan query atau pembaruan berdasarkan struktur internal di dalam dokumen.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RECAP: Contoh JSON dan XML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JSON: contoh dokumen berisi FirstName = Bob, Address = 5 Oak St., dan Hobby = sailing.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XML: contoh dokumen contact berisi nama, telepon seluler/kerja, serta alamat rumah.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Inti: informasi yang sama dapat direpresentasikan menggunakan struktur dokumen JSON atau XML.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Contoh Struktur Dokumen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JSON menggunakan pasangan field–value.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XML menggunakan elemen/tag bertingkat untuk merepresentasikan data kontak.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Keduanya merupakan bentuk data semi-terstruktur yang umum digunakan dalam model dokumen.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Operasi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C — Creation: pembuatan atau penyisipan data.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R — Retrieval: pengambilan data melalui query, pencarian, pembacaan, atau find.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U — Update: pembaruan atau penyuntingan data.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D — Deletion: penghapusan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Tentang Model Dokumen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Menyimpan data dalam dokumen fleksibel yang menyerupai JSON.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Field dapat berbeda antara satu dokumen dan dokumen lainnya, dan struktur data dapat berubah dari waktu ke waktu.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Mendukung query, indexing, dan aggregation.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Contoh: 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D343C"/>
                </a:solidFill>
              </a:defRPr>
            </a:pPr>
            <a:r>
              <a:t>• Terminologi RDBMS ↔ MongoDB:</a:t>
            </a:r>
          </a:p>
          <a:p>
            <a:pPr>
              <a:spcAft>
                <a:spcPts val="1000"/>
              </a:spcAft>
              <a:defRPr sz="1500">
                <a:solidFill>
                  <a:srgbClr val="2D343C"/>
                </a:solidFill>
              </a:defRPr>
            </a:pPr>
            <a:r>
              <a:t>• Database → Database</a:t>
            </a:r>
          </a:p>
          <a:p>
            <a:pPr>
              <a:spcAft>
                <a:spcPts val="1000"/>
              </a:spcAft>
              <a:defRPr sz="1500">
                <a:solidFill>
                  <a:srgbClr val="2D343C"/>
                </a:solidFill>
              </a:defRPr>
            </a:pPr>
            <a:r>
              <a:t>• Table → Collection</a:t>
            </a:r>
          </a:p>
          <a:p>
            <a:pPr>
              <a:spcAft>
                <a:spcPts val="1000"/>
              </a:spcAft>
              <a:defRPr sz="1500">
                <a:solidFill>
                  <a:srgbClr val="2D343C"/>
                </a:solidFill>
              </a:defRPr>
            </a:pPr>
            <a:r>
              <a:t>• Index → Index</a:t>
            </a:r>
          </a:p>
          <a:p>
            <a:pPr>
              <a:spcAft>
                <a:spcPts val="1000"/>
              </a:spcAft>
              <a:defRPr sz="1500">
                <a:solidFill>
                  <a:srgbClr val="2D343C"/>
                </a:solidFill>
              </a:defRPr>
            </a:pPr>
            <a:r>
              <a:t>• Row → Document</a:t>
            </a:r>
          </a:p>
          <a:p>
            <a:pPr>
              <a:spcAft>
                <a:spcPts val="1000"/>
              </a:spcAft>
              <a:defRPr sz="1500">
                <a:solidFill>
                  <a:srgbClr val="2D343C"/>
                </a:solidFill>
              </a:defRPr>
            </a:pPr>
            <a:r>
              <a:t>• Join → Embedding &amp; Linking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Database, Collection, dan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Struktur hierarki pada MongoDB: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Database berada pada tingkat paling atas.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Database berisi satu atau lebih collection.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Collection berisi sejumlah document.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Bagaimana Memodelkannya dalam JSON?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Contoh objek produk: sarung tangan baseball.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Atribut yang terlihat pada contoh mencakup ukuran, model, pola web, bahan kulit, pola, merek, dan karakteristik produk lainnya.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Pertanyaan utama: bagaimana atribut produk tersebut direpresentasikan sebagai field dan value dalam JSON?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Objek 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Sebuah objek JSON terdiri dari fields dan values.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Contoh field: category, model, name, brand, price, dan available.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Nilai field dapat memiliki tipe data berbeda, misalnya string, number, dan date.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Dokumen Memiliki Struktur yang Kaya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Dokumen tidak terbatas pada nilai sederhana.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Sebuah field dapat berisi array.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Contoh: field position dapat memuat beberapa nilai sekaligus, seperti infield, outfield, dan pitcher.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Dokumen Memiliki Struktur yang Kaya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Field juga dapat berisi sub-document atau objek bertingkat.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Contoh: endorsed menyimpan nama, team, dan position sebagai sub-document.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Field history dapat berupa array yang berisi beberapa sub-document tanggal dan harga.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Variasi Mudah Dilakukan!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Dokumen dalam collection yang sama dapat memiliki field berbeda sesuai jenis objek.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Contoh: bat memiliki diameter, barrel, handle, dan type; glove memiliki size, position, pattern, material, dan color; ball memiliki cover, core, dan color.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Ini menunjukkan fleksibilitas skema pada model dokumen.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Query Mudah! (MongoDB Query)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Contoh query mencari produk dengan position = “infield” dan endorsed.team = “Phillies”.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Query dapat langsung mengakses field biasa maupun field di dalam sub-document.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Relasi Objek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Bagian ini membahas bagaimana hubungan antarobjek dimodelkan pada database dokumen.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Pendekatan utama yang digunakan adalah referencing dan embedding.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Relasi 1–1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Relasi satu-ke-satu (1–1): satu dokumen berhubungan dengan satu dokumen lainnya.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Pada model dokumen, relasi dapat dirancang dengan embedding atau referencing sesuai kebutuhan akses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Referencing &amp; Embedding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Referencing: dokumen user menyimpan referensi ke dokumen lain seperti contact dan access.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Embedding: data contact dan access dapat dimasukkan sebagai sub-document langsung di dalam dokumen user.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Pilihan desain bergantung pada pola penggunaan dan kebutuhan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1–1: Rekomendasi Umum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Gunakan embedding.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Tidak memerlukan duplikasi data tambahan.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Field yang di-embed dapat di-query atau di-index, misalnya result.type.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Kasus pengecualian: embedding menghasilkan dokumen yang sangat besar, atau terdapat sekumpulan field yang jarang diakses.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Relasi 1–M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Relasi satu-ke-banyak (1–M): satu dokumen induk dapat berhubungan dengan banyak dokumen anak.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Contoh pada bagian berikut: satu pasien memiliki banyak prosedur.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1–M: Dua Cara Pemodelan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Embed: daftar procedures disimpan langsung di dalam dokumen patient.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Reference: dokumen patient menyimpan ID prosedur, sedangkan detail procedure disimpan terpisah.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Kedua pendekatan merepresentasikan relasi yang sama dengan pola penyimpanan berbeda.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1–M: Rekomendasi Umum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D343C"/>
                </a:solidFill>
              </a:defRPr>
            </a:pPr>
            <a:r>
              <a:t>• Gunakan embedding jika memungkinkan.</a:t>
            </a:r>
          </a:p>
          <a:p>
            <a:pPr>
              <a:spcAft>
                <a:spcPts val="1000"/>
              </a:spcAft>
              <a:defRPr sz="1500">
                <a:solidFill>
                  <a:srgbClr val="2D343C"/>
                </a:solidFill>
              </a:defRPr>
            </a:pPr>
            <a:r>
              <a:t>• Banyak objek anak merupakan weak entities.</a:t>
            </a:r>
          </a:p>
          <a:p>
            <a:pPr>
              <a:spcAft>
                <a:spcPts val="1000"/>
              </a:spcAft>
              <a:defRPr sz="1500">
                <a:solidFill>
                  <a:srgbClr val="2D343C"/>
                </a:solidFill>
              </a:defRPr>
            </a:pPr>
            <a:r>
              <a:t>• Semua informasi dapat diakses dalam satu query.</a:t>
            </a:r>
          </a:p>
          <a:p>
            <a:pPr>
              <a:spcAft>
                <a:spcPts val="1000"/>
              </a:spcAft>
              <a:defRPr sz="1500">
                <a:solidFill>
                  <a:srgbClr val="2D343C"/>
                </a:solidFill>
              </a:defRPr>
            </a:pPr>
            <a:r>
              <a:t>• Memanfaatkan atomicity saat update.</a:t>
            </a:r>
          </a:p>
          <a:p>
            <a:pPr>
              <a:spcAft>
                <a:spcPts val="1000"/>
              </a:spcAft>
              <a:defRPr sz="1500">
                <a:solidFill>
                  <a:srgbClr val="2D343C"/>
                </a:solidFill>
              </a:defRPr>
            </a:pPr>
            <a:r>
              <a:t>• Tidak memerlukan duplikasi data tambahan dan field dapat di-query/index.</a:t>
            </a:r>
          </a:p>
          <a:p>
            <a:pPr>
              <a:spcAft>
                <a:spcPts val="1000"/>
              </a:spcAft>
              <a:defRPr sz="1500">
                <a:solidFill>
                  <a:srgbClr val="2D343C"/>
                </a:solidFill>
              </a:defRPr>
            </a:pPr>
            <a:r>
              <a:t>• Pengecualian: batas ukuran dokumen 16 MB atau jumlah field besar yang jarang diakses.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Relasi M–M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Relasi banyak-ke-banyak (M–M): banyak objek pada satu sisi dapat berhubungan dengan banyak objek pada sisi lainnya.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Contoh pada bagian berikut: physicians dan hospitals.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M–M: Embedding Physicians dalam Hospitals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Data physician dapat di-embed di dalam dokumen hospital.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Physician yang sama dapat muncul pada lebih dari satu hospital.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Pada contoh, duplikasi data dianggap dapat diterima ('Data Duplication is ok!').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M–M: Rekomendasi Umum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Use case menentukan apakah menggunakan reference atau embed.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1. Duplikasi data: embedding dapat menghasilkan duplikasi; duplikasi bisa diterima jika pembacaan jauh lebih dominan daripada pembaruan. Pertimbangkan data mana yang paling jarang berubah.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2. Referencing mungkin diperlukan jika jumlah item terkait sangat banyak.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• 3. Pendekatan hybrid juga memungkinkan: dapat menggunakan keduanya.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5650992" cy="6355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D6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28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8B2D"/>
                </a:solidFill>
              </a:defRPr>
            </a:pPr>
            <a:r>
              <a:t>TERJEMAHAN BAHASA INDONESIA — HALAMAN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685800"/>
            <a:ext cx="5349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B37"/>
                </a:solidFill>
              </a:defRPr>
            </a:pPr>
            <a:r>
              <a:t>REFERENSI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3035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P. Sadalage &amp; M. Fowler — NoSQL Distilled: A Brief Guide to the Emerging World of Polyglot Persistence, 2013.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Jan L. Harrington — Relational Database Design and Implementation, edisi ke-4, 2016.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A. Makris dkk. — A Classification of NoSQL Data Stores Based on Key Design Characteristics, Procedia Computer Science, 2016.</a:t>
            </a:r>
          </a:p>
          <a:p>
            <a:pPr>
              <a:spcAft>
                <a:spcPts val="1000"/>
              </a:spcAft>
              <a:defRPr sz="1700">
                <a:solidFill>
                  <a:srgbClr val="2D343C"/>
                </a:solidFill>
              </a:defRPr>
            </a:pPr>
            <a:r>
              <a:t>MongoDB Schema Design: Practical Applications and Implications.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47B"/>
                </a:solidFill>
              </a:defRPr>
            </a:pPr>
            <a:r>
              <a:t>Sumber kiri: halaman asli PDF | Kanan: terjemahan Bahasa Indonesia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